
<file path=[Content_Types].xml><?xml version="1.0" encoding="utf-8"?>
<Types xmlns="http://schemas.openxmlformats.org/package/2006/content-types">
  <Default Extension="jfif" ContentType="image/jpeg"/>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9" r:id="rId3"/>
    <p:sldId id="257" r:id="rId4"/>
    <p:sldId id="258" r:id="rId5"/>
    <p:sldId id="259" r:id="rId6"/>
    <p:sldId id="260" r:id="rId7"/>
    <p:sldId id="261" r:id="rId8"/>
    <p:sldId id="262" r:id="rId9"/>
    <p:sldId id="263" r:id="rId10"/>
    <p:sldId id="264" r:id="rId11"/>
    <p:sldId id="265" r:id="rId12"/>
    <p:sldId id="290" r:id="rId13"/>
    <p:sldId id="291" r:id="rId14"/>
    <p:sldId id="295" r:id="rId15"/>
    <p:sldId id="266" r:id="rId16"/>
    <p:sldId id="267" r:id="rId17"/>
    <p:sldId id="270" r:id="rId18"/>
    <p:sldId id="271" r:id="rId19"/>
    <p:sldId id="272" r:id="rId20"/>
    <p:sldId id="273" r:id="rId21"/>
    <p:sldId id="274" r:id="rId22"/>
    <p:sldId id="275" r:id="rId23"/>
    <p:sldId id="276" r:id="rId24"/>
    <p:sldId id="292" r:id="rId25"/>
    <p:sldId id="293" r:id="rId26"/>
    <p:sldId id="294" r:id="rId27"/>
    <p:sldId id="277" r:id="rId28"/>
    <p:sldId id="280" r:id="rId29"/>
    <p:sldId id="281" r:id="rId30"/>
    <p:sldId id="282" r:id="rId31"/>
    <p:sldId id="283" r:id="rId32"/>
    <p:sldId id="284" r:id="rId33"/>
    <p:sldId id="285" r:id="rId34"/>
    <p:sldId id="286" r:id="rId35"/>
    <p:sldId id="287" r:id="rId36"/>
    <p:sldId id="288" r:id="rId37"/>
    <p:sldId id="289" r:id="rId38"/>
    <p:sldId id="278"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672"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0B96D74-F2F7-4E10-9286-81C5084359EA}" type="datetimeFigureOut">
              <a:rPr lang="en-US" smtClean="0"/>
              <a:t>12/4/2023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948ED7-11D1-4E02-A07B-3728428FBDE2}" type="slidenum">
              <a:rPr lang="en-US" smtClean="0"/>
              <a:t>‹#›</a:t>
            </a:fld>
            <a:endParaRPr lang="en-US"/>
          </a:p>
        </p:txBody>
      </p:sp>
    </p:spTree>
    <p:extLst>
      <p:ext uri="{BB962C8B-B14F-4D97-AF65-F5344CB8AC3E}">
        <p14:creationId xmlns:p14="http://schemas.microsoft.com/office/powerpoint/2010/main" val="42677722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0B96D74-F2F7-4E10-9286-81C5084359EA}" type="datetimeFigureOut">
              <a:rPr lang="en-US" smtClean="0"/>
              <a:t>12/4/2023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948ED7-11D1-4E02-A07B-3728428FBDE2}" type="slidenum">
              <a:rPr lang="en-US" smtClean="0"/>
              <a:t>‹#›</a:t>
            </a:fld>
            <a:endParaRPr lang="en-US"/>
          </a:p>
        </p:txBody>
      </p:sp>
    </p:spTree>
    <p:extLst>
      <p:ext uri="{BB962C8B-B14F-4D97-AF65-F5344CB8AC3E}">
        <p14:creationId xmlns:p14="http://schemas.microsoft.com/office/powerpoint/2010/main" val="41026746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0B96D74-F2F7-4E10-9286-81C5084359EA}" type="datetimeFigureOut">
              <a:rPr lang="en-US" smtClean="0"/>
              <a:t>12/4/2023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948ED7-11D1-4E02-A07B-3728428FBDE2}" type="slidenum">
              <a:rPr lang="en-US" smtClean="0"/>
              <a:t>‹#›</a:t>
            </a:fld>
            <a:endParaRPr lang="en-US"/>
          </a:p>
        </p:txBody>
      </p:sp>
    </p:spTree>
    <p:extLst>
      <p:ext uri="{BB962C8B-B14F-4D97-AF65-F5344CB8AC3E}">
        <p14:creationId xmlns:p14="http://schemas.microsoft.com/office/powerpoint/2010/main" val="15931254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0B96D74-F2F7-4E10-9286-81C5084359EA}" type="datetimeFigureOut">
              <a:rPr lang="en-US" smtClean="0"/>
              <a:t>12/4/2023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D948ED7-11D1-4E02-A07B-3728428FBDE2}" type="slidenum">
              <a:rPr lang="en-US" smtClean="0"/>
              <a:t>‹#›</a:t>
            </a:fld>
            <a:endParaRPr lang="en-US"/>
          </a:p>
        </p:txBody>
      </p:sp>
    </p:spTree>
    <p:extLst>
      <p:ext uri="{BB962C8B-B14F-4D97-AF65-F5344CB8AC3E}">
        <p14:creationId xmlns:p14="http://schemas.microsoft.com/office/powerpoint/2010/main" val="3164907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0B96D74-F2F7-4E10-9286-81C5084359EA}" type="datetimeFigureOut">
              <a:rPr lang="en-US" smtClean="0"/>
              <a:t>12/4/2023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D948ED7-11D1-4E02-A07B-3728428FBDE2}" type="slidenum">
              <a:rPr lang="en-US" smtClean="0"/>
              <a:t>‹#›</a:t>
            </a:fld>
            <a:endParaRPr lang="en-US"/>
          </a:p>
        </p:txBody>
      </p:sp>
    </p:spTree>
    <p:extLst>
      <p:ext uri="{BB962C8B-B14F-4D97-AF65-F5344CB8AC3E}">
        <p14:creationId xmlns:p14="http://schemas.microsoft.com/office/powerpoint/2010/main" val="4341403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0B96D74-F2F7-4E10-9286-81C5084359EA}" type="datetimeFigureOut">
              <a:rPr lang="en-US" smtClean="0"/>
              <a:t>12/4/2023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D948ED7-11D1-4E02-A07B-3728428FBDE2}" type="slidenum">
              <a:rPr lang="en-US" smtClean="0"/>
              <a:t>‹#›</a:t>
            </a:fld>
            <a:endParaRPr lang="en-US"/>
          </a:p>
        </p:txBody>
      </p:sp>
    </p:spTree>
    <p:extLst>
      <p:ext uri="{BB962C8B-B14F-4D97-AF65-F5344CB8AC3E}">
        <p14:creationId xmlns:p14="http://schemas.microsoft.com/office/powerpoint/2010/main" val="38227572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B96D74-F2F7-4E10-9286-81C5084359EA}" type="datetimeFigureOut">
              <a:rPr lang="en-US" smtClean="0"/>
              <a:t>12/4/2023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D948ED7-11D1-4E02-A07B-3728428FBDE2}" type="slidenum">
              <a:rPr lang="en-US" smtClean="0"/>
              <a:t>‹#›</a:t>
            </a:fld>
            <a:endParaRPr lang="en-US"/>
          </a:p>
        </p:txBody>
      </p:sp>
    </p:spTree>
    <p:extLst>
      <p:ext uri="{BB962C8B-B14F-4D97-AF65-F5344CB8AC3E}">
        <p14:creationId xmlns:p14="http://schemas.microsoft.com/office/powerpoint/2010/main" val="20179191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0B96D74-F2F7-4E10-9286-81C5084359EA}" type="datetimeFigureOut">
              <a:rPr lang="en-US" smtClean="0"/>
              <a:t>12/4/2023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D948ED7-11D1-4E02-A07B-3728428FBDE2}" type="slidenum">
              <a:rPr lang="en-US" smtClean="0"/>
              <a:t>‹#›</a:t>
            </a:fld>
            <a:endParaRPr lang="en-US"/>
          </a:p>
        </p:txBody>
      </p:sp>
    </p:spTree>
    <p:extLst>
      <p:ext uri="{BB962C8B-B14F-4D97-AF65-F5344CB8AC3E}">
        <p14:creationId xmlns:p14="http://schemas.microsoft.com/office/powerpoint/2010/main" val="23852707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0B96D74-F2F7-4E10-9286-81C5084359EA}" type="datetimeFigureOut">
              <a:rPr lang="en-US" smtClean="0"/>
              <a:t>12/4/2023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D948ED7-11D1-4E02-A07B-3728428FBDE2}" type="slidenum">
              <a:rPr lang="en-US" smtClean="0"/>
              <a:t>‹#›</a:t>
            </a:fld>
            <a:endParaRPr lang="en-US"/>
          </a:p>
        </p:txBody>
      </p:sp>
    </p:spTree>
    <p:extLst>
      <p:ext uri="{BB962C8B-B14F-4D97-AF65-F5344CB8AC3E}">
        <p14:creationId xmlns:p14="http://schemas.microsoft.com/office/powerpoint/2010/main" val="7396084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0B96D74-F2F7-4E10-9286-81C5084359EA}" type="datetimeFigureOut">
              <a:rPr lang="en-US" smtClean="0"/>
              <a:t>12/4/2023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948ED7-11D1-4E02-A07B-3728428FBDE2}" type="slidenum">
              <a:rPr lang="en-US" smtClean="0"/>
              <a:t>‹#›</a:t>
            </a:fld>
            <a:endParaRPr lang="en-US"/>
          </a:p>
        </p:txBody>
      </p:sp>
    </p:spTree>
    <p:extLst>
      <p:ext uri="{BB962C8B-B14F-4D97-AF65-F5344CB8AC3E}">
        <p14:creationId xmlns:p14="http://schemas.microsoft.com/office/powerpoint/2010/main" val="35956882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0B96D74-F2F7-4E10-9286-81C5084359EA}" type="datetimeFigureOut">
              <a:rPr lang="en-US" smtClean="0"/>
              <a:t>12/4/2023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948ED7-11D1-4E02-A07B-3728428FBDE2}" type="slidenum">
              <a:rPr lang="en-US" smtClean="0"/>
              <a:t>‹#›</a:t>
            </a:fld>
            <a:endParaRPr lang="en-US"/>
          </a:p>
        </p:txBody>
      </p:sp>
    </p:spTree>
    <p:extLst>
      <p:ext uri="{BB962C8B-B14F-4D97-AF65-F5344CB8AC3E}">
        <p14:creationId xmlns:p14="http://schemas.microsoft.com/office/powerpoint/2010/main" val="40616628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B96D74-F2F7-4E10-9286-81C5084359EA}" type="datetimeFigureOut">
              <a:rPr lang="en-US" smtClean="0"/>
              <a:t>12/4/2023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948ED7-11D1-4E02-A07B-3728428FBDE2}" type="slidenum">
              <a:rPr lang="en-US" smtClean="0"/>
              <a:t>‹#›</a:t>
            </a:fld>
            <a:endParaRPr lang="en-US"/>
          </a:p>
        </p:txBody>
      </p:sp>
    </p:spTree>
    <p:extLst>
      <p:ext uri="{BB962C8B-B14F-4D97-AF65-F5344CB8AC3E}">
        <p14:creationId xmlns:p14="http://schemas.microsoft.com/office/powerpoint/2010/main" val="26732154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fif"/><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HIV TESTING</a:t>
            </a:r>
            <a:endParaRPr lang="en-US" dirty="0"/>
          </a:p>
        </p:txBody>
      </p:sp>
      <p:sp>
        <p:nvSpPr>
          <p:cNvPr id="3" name="Subtitle 2"/>
          <p:cNvSpPr>
            <a:spLocks noGrp="1"/>
          </p:cNvSpPr>
          <p:nvPr>
            <p:ph type="subTitle" idx="1"/>
          </p:nvPr>
        </p:nvSpPr>
        <p:spPr/>
        <p:txBody>
          <a:bodyPr/>
          <a:lstStyle/>
          <a:p>
            <a:r>
              <a:rPr lang="en-US" dirty="0" smtClean="0"/>
              <a:t>MICHAEL OKUMU</a:t>
            </a:r>
          </a:p>
          <a:p>
            <a:r>
              <a:rPr lang="en-US" dirty="0" smtClean="0"/>
              <a:t>NURSING</a:t>
            </a:r>
          </a:p>
        </p:txBody>
      </p:sp>
    </p:spTree>
    <p:extLst>
      <p:ext uri="{BB962C8B-B14F-4D97-AF65-F5344CB8AC3E}">
        <p14:creationId xmlns:p14="http://schemas.microsoft.com/office/powerpoint/2010/main" val="29162980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2072" y="232013"/>
            <a:ext cx="9253182" cy="6496334"/>
          </a:xfrm>
          <a:prstGeom prst="rect">
            <a:avLst/>
          </a:prstGeom>
        </p:spPr>
      </p:pic>
    </p:spTree>
    <p:extLst>
      <p:ext uri="{BB962C8B-B14F-4D97-AF65-F5344CB8AC3E}">
        <p14:creationId xmlns:p14="http://schemas.microsoft.com/office/powerpoint/2010/main" val="30189020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LEARNING OUTCOMES</a:t>
            </a:r>
            <a:endParaRPr lang="en-US" b="1" dirty="0"/>
          </a:p>
        </p:txBody>
      </p:sp>
      <p:sp>
        <p:nvSpPr>
          <p:cNvPr id="3" name="Content Placeholder 2"/>
          <p:cNvSpPr>
            <a:spLocks noGrp="1"/>
          </p:cNvSpPr>
          <p:nvPr>
            <p:ph idx="1"/>
          </p:nvPr>
        </p:nvSpPr>
        <p:spPr/>
        <p:txBody>
          <a:bodyPr/>
          <a:lstStyle/>
          <a:p>
            <a:pPr>
              <a:buFont typeface="Wingdings" panose="05000000000000000000" pitchFamily="2" charset="2"/>
              <a:buChar char="q"/>
            </a:pPr>
            <a:r>
              <a:rPr lang="en-US" dirty="0" smtClean="0"/>
              <a:t>By the end of the session, you will be able to</a:t>
            </a:r>
          </a:p>
          <a:p>
            <a:pPr>
              <a:buFont typeface="Wingdings" panose="05000000000000000000" pitchFamily="2" charset="2"/>
              <a:buChar char="Ø"/>
            </a:pPr>
            <a:r>
              <a:rPr lang="en-US" dirty="0" smtClean="0"/>
              <a:t>Describe the approaches used in HIV testing in Kenya</a:t>
            </a:r>
          </a:p>
          <a:p>
            <a:pPr>
              <a:buFont typeface="Wingdings" panose="05000000000000000000" pitchFamily="2" charset="2"/>
              <a:buChar char="Ø"/>
            </a:pPr>
            <a:r>
              <a:rPr lang="en-US" dirty="0" smtClean="0"/>
              <a:t>Outline the indications for HIV testing</a:t>
            </a:r>
          </a:p>
          <a:p>
            <a:pPr>
              <a:buFont typeface="Wingdings" panose="05000000000000000000" pitchFamily="2" charset="2"/>
              <a:buChar char="Ø"/>
            </a:pPr>
            <a:r>
              <a:rPr lang="en-US" dirty="0" smtClean="0"/>
              <a:t>Describe the benefits of HIV testing to the individual and community</a:t>
            </a:r>
            <a:endParaRPr lang="en-US" dirty="0"/>
          </a:p>
        </p:txBody>
      </p:sp>
    </p:spTree>
    <p:extLst>
      <p:ext uri="{BB962C8B-B14F-4D97-AF65-F5344CB8AC3E}">
        <p14:creationId xmlns:p14="http://schemas.microsoft.com/office/powerpoint/2010/main" val="6441930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DEFINITION OF TERMS</a:t>
            </a:r>
            <a:endParaRPr lang="en-US" b="1" dirty="0"/>
          </a:p>
        </p:txBody>
      </p:sp>
      <p:sp>
        <p:nvSpPr>
          <p:cNvPr id="3" name="Content Placeholder 2"/>
          <p:cNvSpPr>
            <a:spLocks noGrp="1"/>
          </p:cNvSpPr>
          <p:nvPr>
            <p:ph idx="1"/>
          </p:nvPr>
        </p:nvSpPr>
        <p:spPr/>
        <p:txBody>
          <a:bodyPr/>
          <a:lstStyle/>
          <a:p>
            <a:pPr>
              <a:buFont typeface="Wingdings" panose="05000000000000000000" pitchFamily="2" charset="2"/>
              <a:buChar char="q"/>
            </a:pPr>
            <a:r>
              <a:rPr lang="en-US" dirty="0" smtClean="0"/>
              <a:t>Emancipated minor</a:t>
            </a:r>
          </a:p>
          <a:p>
            <a:pPr marL="0" indent="0">
              <a:buNone/>
            </a:pPr>
            <a:r>
              <a:rPr lang="en-US" dirty="0" smtClean="0"/>
              <a:t>An individual who is not legally an adult but who because he or she is married, is the mother/father of a child  is no longer dependent on the parents. S/he may not require permission for medical or surgical care.</a:t>
            </a:r>
          </a:p>
          <a:p>
            <a:pPr>
              <a:buFont typeface="Wingdings" panose="05000000000000000000" pitchFamily="2" charset="2"/>
              <a:buChar char="q"/>
            </a:pPr>
            <a:r>
              <a:rPr lang="en-US" dirty="0" smtClean="0"/>
              <a:t>HIV self testing</a:t>
            </a:r>
          </a:p>
          <a:p>
            <a:pPr marL="0" indent="0">
              <a:buNone/>
            </a:pPr>
            <a:r>
              <a:rPr lang="en-US" dirty="0" smtClean="0"/>
              <a:t>A process in which an individual collects his/her specimen, performs a test and interprets  the test results in private. Reactive/positive test results  must be followed by additional guidelines</a:t>
            </a:r>
            <a:endParaRPr lang="en-US" dirty="0"/>
          </a:p>
        </p:txBody>
      </p:sp>
    </p:spTree>
    <p:extLst>
      <p:ext uri="{BB962C8B-B14F-4D97-AF65-F5344CB8AC3E}">
        <p14:creationId xmlns:p14="http://schemas.microsoft.com/office/powerpoint/2010/main" val="5277723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DEFINITION OF TERMS</a:t>
            </a:r>
            <a:endParaRPr lang="en-US" b="1" dirty="0"/>
          </a:p>
        </p:txBody>
      </p:sp>
      <p:sp>
        <p:nvSpPr>
          <p:cNvPr id="3" name="Content Placeholder 2"/>
          <p:cNvSpPr>
            <a:spLocks noGrp="1"/>
          </p:cNvSpPr>
          <p:nvPr>
            <p:ph idx="1"/>
          </p:nvPr>
        </p:nvSpPr>
        <p:spPr/>
        <p:txBody>
          <a:bodyPr/>
          <a:lstStyle/>
          <a:p>
            <a:pPr marL="0" indent="0">
              <a:buNone/>
            </a:pPr>
            <a:r>
              <a:rPr lang="en-US" b="1" dirty="0" smtClean="0"/>
              <a:t>KEY POPULATIONS/MOST AT RISK POPULATIONS</a:t>
            </a:r>
          </a:p>
          <a:p>
            <a:pPr marL="0" indent="0">
              <a:buNone/>
            </a:pPr>
            <a:r>
              <a:rPr lang="en-US" dirty="0" smtClean="0"/>
              <a:t>Groups, who due to specific higher-risk behavior, are at an increased risk of contracting </a:t>
            </a:r>
            <a:r>
              <a:rPr lang="en-US" dirty="0"/>
              <a:t>H</a:t>
            </a:r>
            <a:r>
              <a:rPr lang="en-US" dirty="0" smtClean="0"/>
              <a:t>IV, irrespective of their epidemic type or local context. Legal, cultural and social barriers related to their behavior increase their vulnerability to HIV. In Kenya these populations include men who sex with men(MSM), people who inject drugs(PWID) and sex workers(SW)</a:t>
            </a:r>
            <a:endParaRPr lang="en-US" dirty="0"/>
          </a:p>
        </p:txBody>
      </p:sp>
    </p:spTree>
    <p:extLst>
      <p:ext uri="{BB962C8B-B14F-4D97-AF65-F5344CB8AC3E}">
        <p14:creationId xmlns:p14="http://schemas.microsoft.com/office/powerpoint/2010/main" val="4155085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DEFINITION OF TERMS</a:t>
            </a:r>
            <a:endParaRPr lang="en-US" b="1" dirty="0"/>
          </a:p>
        </p:txBody>
      </p:sp>
      <p:sp>
        <p:nvSpPr>
          <p:cNvPr id="3" name="Content Placeholder 2"/>
          <p:cNvSpPr>
            <a:spLocks noGrp="1"/>
          </p:cNvSpPr>
          <p:nvPr>
            <p:ph idx="1"/>
          </p:nvPr>
        </p:nvSpPr>
        <p:spPr/>
        <p:txBody>
          <a:bodyPr/>
          <a:lstStyle/>
          <a:p>
            <a:pPr marL="0" indent="0">
              <a:buNone/>
            </a:pPr>
            <a:r>
              <a:rPr lang="en-US" b="1" dirty="0" smtClean="0"/>
              <a:t>PRIORITY POPULATIONS</a:t>
            </a:r>
          </a:p>
          <a:p>
            <a:pPr marL="0" indent="0">
              <a:buNone/>
            </a:pPr>
            <a:r>
              <a:rPr lang="en-US" dirty="0" smtClean="0"/>
              <a:t>Individuals who because of their circumstances are at an increased risk of HIV transmission. These include fisher folk, truckers, persons in confinement and adolescent and young women</a:t>
            </a:r>
            <a:endParaRPr lang="en-US" dirty="0"/>
          </a:p>
        </p:txBody>
      </p:sp>
    </p:spTree>
    <p:extLst>
      <p:ext uri="{BB962C8B-B14F-4D97-AF65-F5344CB8AC3E}">
        <p14:creationId xmlns:p14="http://schemas.microsoft.com/office/powerpoint/2010/main" val="20290824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HIV TESTING SERVICES</a:t>
            </a:r>
            <a:endParaRPr lang="en-US" b="1" dirty="0"/>
          </a:p>
        </p:txBody>
      </p:sp>
      <p:sp>
        <p:nvSpPr>
          <p:cNvPr id="3" name="Content Placeholder 2"/>
          <p:cNvSpPr>
            <a:spLocks noGrp="1"/>
          </p:cNvSpPr>
          <p:nvPr>
            <p:ph idx="1"/>
          </p:nvPr>
        </p:nvSpPr>
        <p:spPr/>
        <p:txBody>
          <a:bodyPr/>
          <a:lstStyle/>
          <a:p>
            <a:r>
              <a:rPr lang="en-US" dirty="0" smtClean="0"/>
              <a:t>Used to indicate the full range of services that a client is offered together with HIV testing. This include counselling (pre and post testing), linkage to appropriate HIV prevention, care and treatment services and other clinical support services, and coordination with laboratory services to support quality assurance in delivery of correct results</a:t>
            </a:r>
            <a:endParaRPr lang="en-US" dirty="0"/>
          </a:p>
        </p:txBody>
      </p:sp>
    </p:spTree>
    <p:extLst>
      <p:ext uri="{BB962C8B-B14F-4D97-AF65-F5344CB8AC3E}">
        <p14:creationId xmlns:p14="http://schemas.microsoft.com/office/powerpoint/2010/main" val="38467410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PACKAGE FOR HIV TESTING SERVICES</a:t>
            </a:r>
            <a:endParaRPr lang="en-US" b="1" dirty="0"/>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dirty="0" smtClean="0"/>
              <a:t>Pre-test counselling</a:t>
            </a:r>
          </a:p>
          <a:p>
            <a:pPr>
              <a:buFont typeface="Wingdings" panose="05000000000000000000" pitchFamily="2" charset="2"/>
              <a:buChar char="Ø"/>
            </a:pPr>
            <a:r>
              <a:rPr lang="en-US" dirty="0" smtClean="0"/>
              <a:t>HIV testing</a:t>
            </a:r>
          </a:p>
          <a:p>
            <a:pPr>
              <a:buFont typeface="Wingdings" panose="05000000000000000000" pitchFamily="2" charset="2"/>
              <a:buChar char="Ø"/>
            </a:pPr>
            <a:r>
              <a:rPr lang="en-US" dirty="0" smtClean="0"/>
              <a:t>Post test counselling</a:t>
            </a:r>
          </a:p>
          <a:p>
            <a:pPr>
              <a:buFont typeface="Wingdings" panose="05000000000000000000" pitchFamily="2" charset="2"/>
              <a:buChar char="Ø"/>
            </a:pPr>
            <a:r>
              <a:rPr lang="en-US" dirty="0" smtClean="0"/>
              <a:t>Linkage to HIV prevention, care and treatment</a:t>
            </a:r>
          </a:p>
          <a:p>
            <a:pPr>
              <a:buFont typeface="Wingdings" panose="05000000000000000000" pitchFamily="2" charset="2"/>
              <a:buChar char="Ø"/>
            </a:pPr>
            <a:r>
              <a:rPr lang="en-US" dirty="0" smtClean="0"/>
              <a:t>Assessment for other health related needs</a:t>
            </a:r>
            <a:endParaRPr lang="en-US" dirty="0"/>
          </a:p>
        </p:txBody>
      </p:sp>
    </p:spTree>
    <p:extLst>
      <p:ext uri="{BB962C8B-B14F-4D97-AF65-F5344CB8AC3E}">
        <p14:creationId xmlns:p14="http://schemas.microsoft.com/office/powerpoint/2010/main" val="8201917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APPROACHES THAT IMPROVE LINKAGE TO CARE AND TREATMENT</a:t>
            </a:r>
            <a:endParaRPr lang="en-US" b="1" dirty="0"/>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dirty="0" smtClean="0"/>
              <a:t>Information</a:t>
            </a:r>
          </a:p>
          <a:p>
            <a:pPr>
              <a:buFont typeface="Wingdings" panose="05000000000000000000" pitchFamily="2" charset="2"/>
              <a:buChar char="Ø"/>
            </a:pPr>
            <a:r>
              <a:rPr lang="en-US" dirty="0" smtClean="0"/>
              <a:t>Disclosure</a:t>
            </a:r>
          </a:p>
          <a:p>
            <a:pPr>
              <a:buFont typeface="Wingdings" panose="05000000000000000000" pitchFamily="2" charset="2"/>
              <a:buChar char="Ø"/>
            </a:pPr>
            <a:r>
              <a:rPr lang="en-US" dirty="0" smtClean="0"/>
              <a:t>Addressing barriers to linkage</a:t>
            </a:r>
          </a:p>
          <a:p>
            <a:pPr>
              <a:buFont typeface="Wingdings" panose="05000000000000000000" pitchFamily="2" charset="2"/>
              <a:buChar char="Ø"/>
            </a:pPr>
            <a:r>
              <a:rPr lang="en-US" dirty="0" smtClean="0"/>
              <a:t>Establishing systems to facilitate linkage</a:t>
            </a:r>
          </a:p>
          <a:p>
            <a:pPr>
              <a:buFont typeface="Wingdings" panose="05000000000000000000" pitchFamily="2" charset="2"/>
              <a:buChar char="Ø"/>
            </a:pPr>
            <a:r>
              <a:rPr lang="en-US" dirty="0" smtClean="0"/>
              <a:t>Care coordination and integration</a:t>
            </a:r>
            <a:endParaRPr lang="en-US" dirty="0"/>
          </a:p>
        </p:txBody>
      </p:sp>
    </p:spTree>
    <p:extLst>
      <p:ext uri="{BB962C8B-B14F-4D97-AF65-F5344CB8AC3E}">
        <p14:creationId xmlns:p14="http://schemas.microsoft.com/office/powerpoint/2010/main" val="8731938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PRINCIPLES OF HTC</a:t>
            </a:r>
            <a:endParaRPr lang="en-US" b="1" dirty="0"/>
          </a:p>
        </p:txBody>
      </p:sp>
      <p:sp>
        <p:nvSpPr>
          <p:cNvPr id="3" name="Content Placeholder 2"/>
          <p:cNvSpPr>
            <a:spLocks noGrp="1"/>
          </p:cNvSpPr>
          <p:nvPr>
            <p:ph idx="1"/>
          </p:nvPr>
        </p:nvSpPr>
        <p:spPr/>
        <p:txBody>
          <a:bodyPr/>
          <a:lstStyle/>
          <a:p>
            <a:pPr>
              <a:buFont typeface="Wingdings" panose="05000000000000000000" pitchFamily="2" charset="2"/>
              <a:buChar char="q"/>
            </a:pPr>
            <a:r>
              <a:rPr lang="en-US" b="1" dirty="0" smtClean="0"/>
              <a:t>Consent</a:t>
            </a:r>
            <a:r>
              <a:rPr lang="en-US" dirty="0" smtClean="0"/>
              <a:t>-Individuals need to give  informed consent before testing. They need to be aware of the process and the right to decline testing</a:t>
            </a:r>
          </a:p>
          <a:p>
            <a:pPr>
              <a:buFont typeface="Wingdings" panose="05000000000000000000" pitchFamily="2" charset="2"/>
              <a:buChar char="q"/>
            </a:pPr>
            <a:r>
              <a:rPr lang="en-US" b="1" dirty="0" smtClean="0"/>
              <a:t>Confidentiality</a:t>
            </a:r>
            <a:r>
              <a:rPr lang="en-US" dirty="0" smtClean="0"/>
              <a:t>-The discussions are not shared with anyone else unless with permission of the client</a:t>
            </a:r>
          </a:p>
          <a:p>
            <a:pPr>
              <a:buFont typeface="Wingdings" panose="05000000000000000000" pitchFamily="2" charset="2"/>
              <a:buChar char="Ø"/>
            </a:pPr>
            <a:r>
              <a:rPr lang="en-US" b="1" dirty="0" smtClean="0"/>
              <a:t>Shared confidentiality</a:t>
            </a:r>
            <a:r>
              <a:rPr lang="en-US" dirty="0" smtClean="0"/>
              <a:t>-with partner, family members and other healthcare providers  may be beneficial</a:t>
            </a:r>
          </a:p>
          <a:p>
            <a:pPr>
              <a:buFont typeface="Wingdings" panose="05000000000000000000" pitchFamily="2" charset="2"/>
              <a:buChar char="q"/>
            </a:pPr>
            <a:r>
              <a:rPr lang="en-US" b="1" dirty="0" smtClean="0"/>
              <a:t>Counselling</a:t>
            </a:r>
            <a:r>
              <a:rPr lang="en-US" dirty="0" smtClean="0"/>
              <a:t>-The sessions must be accompanied by high quality counselling and testing</a:t>
            </a:r>
            <a:endParaRPr lang="en-US" dirty="0"/>
          </a:p>
        </p:txBody>
      </p:sp>
    </p:spTree>
    <p:extLst>
      <p:ext uri="{BB962C8B-B14F-4D97-AF65-F5344CB8AC3E}">
        <p14:creationId xmlns:p14="http://schemas.microsoft.com/office/powerpoint/2010/main" val="25534955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PRINCIPLES OF HTC</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q"/>
            </a:pPr>
            <a:r>
              <a:rPr lang="en-US" b="1" dirty="0" smtClean="0"/>
              <a:t>Correct test results</a:t>
            </a:r>
            <a:r>
              <a:rPr lang="en-US" dirty="0" smtClean="0"/>
              <a:t>-Quality assurance mechanisms to ensure accurate results</a:t>
            </a:r>
          </a:p>
          <a:p>
            <a:pPr>
              <a:buFont typeface="Wingdings" panose="05000000000000000000" pitchFamily="2" charset="2"/>
              <a:buChar char="q"/>
            </a:pPr>
            <a:r>
              <a:rPr lang="en-US" b="1" dirty="0" smtClean="0"/>
              <a:t>Connections</a:t>
            </a:r>
            <a:r>
              <a:rPr lang="en-US" dirty="0" smtClean="0"/>
              <a:t>-To preventive care and treatment. Must ensure that positive individuals are linked to care and the negative individuals offered prevention services</a:t>
            </a:r>
            <a:endParaRPr lang="en-US" dirty="0"/>
          </a:p>
        </p:txBody>
      </p:sp>
    </p:spTree>
    <p:extLst>
      <p:ext uri="{BB962C8B-B14F-4D97-AF65-F5344CB8AC3E}">
        <p14:creationId xmlns:p14="http://schemas.microsoft.com/office/powerpoint/2010/main" val="247354551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TYPES OF HIV TESTS</a:t>
            </a:r>
            <a:endParaRPr lang="en-US" b="1" dirty="0"/>
          </a:p>
        </p:txBody>
      </p:sp>
      <p:sp>
        <p:nvSpPr>
          <p:cNvPr id="3" name="Content Placeholder 2"/>
          <p:cNvSpPr>
            <a:spLocks noGrp="1"/>
          </p:cNvSpPr>
          <p:nvPr>
            <p:ph idx="1"/>
          </p:nvPr>
        </p:nvSpPr>
        <p:spPr/>
        <p:txBody>
          <a:bodyPr/>
          <a:lstStyle/>
          <a:p>
            <a:pPr>
              <a:buFont typeface="Wingdings" panose="05000000000000000000" pitchFamily="2" charset="2"/>
              <a:buChar char="§"/>
            </a:pPr>
            <a:r>
              <a:rPr lang="en-US" dirty="0" smtClean="0"/>
              <a:t>Antibody tests(widely used)</a:t>
            </a:r>
          </a:p>
          <a:p>
            <a:pPr>
              <a:buFont typeface="Wingdings" panose="05000000000000000000" pitchFamily="2" charset="2"/>
              <a:buChar char="ü"/>
            </a:pPr>
            <a:r>
              <a:rPr lang="en-US" dirty="0" smtClean="0"/>
              <a:t>Long ELISA</a:t>
            </a:r>
          </a:p>
          <a:p>
            <a:pPr>
              <a:buFont typeface="Wingdings" panose="05000000000000000000" pitchFamily="2" charset="2"/>
              <a:buChar char="ü"/>
            </a:pPr>
            <a:r>
              <a:rPr lang="en-US" dirty="0" smtClean="0"/>
              <a:t>Rapid assays</a:t>
            </a:r>
          </a:p>
          <a:p>
            <a:pPr>
              <a:buFont typeface="Wingdings" panose="05000000000000000000" pitchFamily="2" charset="2"/>
              <a:buChar char="§"/>
            </a:pPr>
            <a:r>
              <a:rPr lang="en-US" dirty="0" smtClean="0"/>
              <a:t>Molecular methods(Gold standard/definitive)</a:t>
            </a:r>
          </a:p>
          <a:p>
            <a:pPr>
              <a:buFont typeface="Wingdings" panose="05000000000000000000" pitchFamily="2" charset="2"/>
              <a:buChar char="ü"/>
            </a:pPr>
            <a:r>
              <a:rPr lang="en-US" dirty="0" smtClean="0"/>
              <a:t>PCR-DNA</a:t>
            </a:r>
          </a:p>
          <a:p>
            <a:pPr>
              <a:buFont typeface="Wingdings" panose="05000000000000000000" pitchFamily="2" charset="2"/>
              <a:buChar char="ü"/>
            </a:pPr>
            <a:r>
              <a:rPr lang="en-US" dirty="0" smtClean="0"/>
              <a:t>PCR-RNA</a:t>
            </a:r>
            <a:endParaRPr lang="en-US" dirty="0"/>
          </a:p>
        </p:txBody>
      </p:sp>
    </p:spTree>
    <p:extLst>
      <p:ext uri="{BB962C8B-B14F-4D97-AF65-F5344CB8AC3E}">
        <p14:creationId xmlns:p14="http://schemas.microsoft.com/office/powerpoint/2010/main" val="106700527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RAPID TEST KITS</a:t>
            </a:r>
            <a:endParaRPr lang="en-US" b="1" dirty="0"/>
          </a:p>
        </p:txBody>
      </p:sp>
      <p:pic>
        <p:nvPicPr>
          <p:cNvPr id="5" name="Content Placeholder 4"/>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38201" y="1924335"/>
            <a:ext cx="5043984" cy="4667534"/>
          </a:xfrm>
        </p:spPr>
      </p:pic>
      <p:pic>
        <p:nvPicPr>
          <p:cNvPr id="8" name="Content Placeholder 7"/>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587331" y="1787857"/>
            <a:ext cx="4351338" cy="4389106"/>
          </a:xfrm>
        </p:spPr>
      </p:pic>
    </p:spTree>
    <p:extLst>
      <p:ext uri="{BB962C8B-B14F-4D97-AF65-F5344CB8AC3E}">
        <p14:creationId xmlns:p14="http://schemas.microsoft.com/office/powerpoint/2010/main" val="4823976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HIV TEST RESULT INTERPRETATION</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01504" y="1992573"/>
            <a:ext cx="8434317" cy="4258102"/>
          </a:xfrm>
        </p:spPr>
      </p:pic>
    </p:spTree>
    <p:extLst>
      <p:ext uri="{BB962C8B-B14F-4D97-AF65-F5344CB8AC3E}">
        <p14:creationId xmlns:p14="http://schemas.microsoft.com/office/powerpoint/2010/main" val="11423610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SETTINGS FOR HIV TESTING</a:t>
            </a:r>
            <a:endParaRPr lang="en-US" b="1" dirty="0"/>
          </a:p>
        </p:txBody>
      </p:sp>
      <p:sp>
        <p:nvSpPr>
          <p:cNvPr id="3" name="Content Placeholder 2"/>
          <p:cNvSpPr>
            <a:spLocks noGrp="1"/>
          </p:cNvSpPr>
          <p:nvPr>
            <p:ph idx="1"/>
          </p:nvPr>
        </p:nvSpPr>
        <p:spPr/>
        <p:txBody>
          <a:bodyPr/>
          <a:lstStyle/>
          <a:p>
            <a:pPr>
              <a:buFont typeface="Wingdings" panose="05000000000000000000" pitchFamily="2" charset="2"/>
              <a:buChar char="q"/>
            </a:pPr>
            <a:r>
              <a:rPr lang="en-US" dirty="0" smtClean="0"/>
              <a:t>To optimize access to testing services, HIV testing can be conducted in the following settings</a:t>
            </a:r>
          </a:p>
          <a:p>
            <a:pPr>
              <a:buFont typeface="Wingdings" panose="05000000000000000000" pitchFamily="2" charset="2"/>
              <a:buChar char="Ø"/>
            </a:pPr>
            <a:r>
              <a:rPr lang="en-US" dirty="0" smtClean="0"/>
              <a:t>Facility/hospital based</a:t>
            </a:r>
          </a:p>
          <a:p>
            <a:pPr>
              <a:buFont typeface="Wingdings" panose="05000000000000000000" pitchFamily="2" charset="2"/>
              <a:buChar char="Ø"/>
            </a:pPr>
            <a:r>
              <a:rPr lang="en-US" dirty="0" smtClean="0"/>
              <a:t>Community based</a:t>
            </a:r>
          </a:p>
          <a:p>
            <a:pPr>
              <a:buFont typeface="Wingdings" panose="05000000000000000000" pitchFamily="2" charset="2"/>
              <a:buChar char="Ø"/>
            </a:pPr>
            <a:r>
              <a:rPr lang="en-US" dirty="0" smtClean="0"/>
              <a:t>Self testing</a:t>
            </a:r>
            <a:endParaRPr lang="en-US" dirty="0"/>
          </a:p>
        </p:txBody>
      </p:sp>
    </p:spTree>
    <p:extLst>
      <p:ext uri="{BB962C8B-B14F-4D97-AF65-F5344CB8AC3E}">
        <p14:creationId xmlns:p14="http://schemas.microsoft.com/office/powerpoint/2010/main" val="17412249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FACILITY BASED TESTING</a:t>
            </a:r>
            <a:endParaRPr lang="en-US" b="1" dirty="0"/>
          </a:p>
        </p:txBody>
      </p:sp>
      <p:sp>
        <p:nvSpPr>
          <p:cNvPr id="3" name="Content Placeholder 2"/>
          <p:cNvSpPr>
            <a:spLocks noGrp="1"/>
          </p:cNvSpPr>
          <p:nvPr>
            <p:ph idx="1"/>
          </p:nvPr>
        </p:nvSpPr>
        <p:spPr/>
        <p:txBody>
          <a:bodyPr/>
          <a:lstStyle/>
          <a:p>
            <a:pPr>
              <a:buFont typeface="Wingdings" panose="05000000000000000000" pitchFamily="2" charset="2"/>
              <a:buChar char="q"/>
            </a:pPr>
            <a:r>
              <a:rPr lang="en-US" dirty="0" smtClean="0"/>
              <a:t>Routine opt-out provider initiated HIV testing and counselling(PITC) should be offered to all clients regardless of the reason for visit.</a:t>
            </a:r>
          </a:p>
          <a:p>
            <a:pPr>
              <a:buFont typeface="Wingdings" panose="05000000000000000000" pitchFamily="2" charset="2"/>
              <a:buChar char="q"/>
            </a:pPr>
            <a:r>
              <a:rPr lang="en-US" dirty="0" smtClean="0"/>
              <a:t>PITC should be integrated into all service delivery points at the health facility-adult and pediatric units, maternal and child health services, specialty clinics, GBV care units and SRH/FP clinics</a:t>
            </a:r>
            <a:endParaRPr lang="en-US" dirty="0"/>
          </a:p>
        </p:txBody>
      </p:sp>
    </p:spTree>
    <p:extLst>
      <p:ext uri="{BB962C8B-B14F-4D97-AF65-F5344CB8AC3E}">
        <p14:creationId xmlns:p14="http://schemas.microsoft.com/office/powerpoint/2010/main" val="5912310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FACILITY BASED TESTING SETTING</a:t>
            </a:r>
            <a:endParaRPr lang="en-US" b="1" dirty="0"/>
          </a:p>
        </p:txBody>
      </p:sp>
      <p:sp>
        <p:nvSpPr>
          <p:cNvPr id="3" name="Content Placeholder 2"/>
          <p:cNvSpPr>
            <a:spLocks noGrp="1"/>
          </p:cNvSpPr>
          <p:nvPr>
            <p:ph idx="1"/>
          </p:nvPr>
        </p:nvSpPr>
        <p:spPr/>
        <p:txBody>
          <a:bodyPr/>
          <a:lstStyle/>
          <a:p>
            <a:pPr marL="0" indent="0">
              <a:buNone/>
            </a:pPr>
            <a:r>
              <a:rPr lang="en-US" b="1" dirty="0" smtClean="0"/>
              <a:t>Birth testing to infants born to HIV-Positive mothers</a:t>
            </a:r>
          </a:p>
          <a:p>
            <a:pPr>
              <a:buFont typeface="Wingdings" panose="05000000000000000000" pitchFamily="2" charset="2"/>
              <a:buChar char="q"/>
            </a:pPr>
            <a:r>
              <a:rPr lang="en-US" dirty="0" smtClean="0"/>
              <a:t>All infants born to HIV positive mothers must be offered HIV DNA PCR testing at birth, first contact not later than 2 weeks after birth.</a:t>
            </a:r>
          </a:p>
          <a:p>
            <a:pPr marL="0" indent="0">
              <a:buNone/>
            </a:pPr>
            <a:r>
              <a:rPr lang="en-US" b="1" dirty="0" smtClean="0"/>
              <a:t>HTS of infants and children below 18 months</a:t>
            </a:r>
          </a:p>
          <a:p>
            <a:pPr>
              <a:buFont typeface="Wingdings" panose="05000000000000000000" pitchFamily="2" charset="2"/>
              <a:buChar char="q"/>
            </a:pPr>
            <a:r>
              <a:rPr lang="en-US" dirty="0" smtClean="0"/>
              <a:t>Antibody testing for all mothers with unknown HIV status or those who tested negative previously is done.</a:t>
            </a:r>
          </a:p>
          <a:p>
            <a:pPr>
              <a:buFont typeface="Wingdings" panose="05000000000000000000" pitchFamily="2" charset="2"/>
              <a:buChar char="q"/>
            </a:pPr>
            <a:r>
              <a:rPr lang="en-US" dirty="0" smtClean="0"/>
              <a:t>Those who test positive will have their infants tested using the DNA PCR method</a:t>
            </a:r>
            <a:endParaRPr lang="en-US" dirty="0"/>
          </a:p>
        </p:txBody>
      </p:sp>
    </p:spTree>
    <p:extLst>
      <p:ext uri="{BB962C8B-B14F-4D97-AF65-F5344CB8AC3E}">
        <p14:creationId xmlns:p14="http://schemas.microsoft.com/office/powerpoint/2010/main" val="31263307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HTS IN DIFFERENT SETTINGS</a:t>
            </a:r>
            <a:endParaRPr lang="en-US" b="1" dirty="0"/>
          </a:p>
        </p:txBody>
      </p:sp>
      <p:sp>
        <p:nvSpPr>
          <p:cNvPr id="3" name="Content Placeholder 2"/>
          <p:cNvSpPr>
            <a:spLocks noGrp="1"/>
          </p:cNvSpPr>
          <p:nvPr>
            <p:ph idx="1"/>
          </p:nvPr>
        </p:nvSpPr>
        <p:spPr/>
        <p:txBody>
          <a:bodyPr/>
          <a:lstStyle/>
          <a:p>
            <a:pPr marL="0" indent="0">
              <a:buNone/>
            </a:pPr>
            <a:r>
              <a:rPr lang="en-US" b="1" dirty="0" smtClean="0"/>
              <a:t>HTS in children 18 months-2 years</a:t>
            </a:r>
          </a:p>
          <a:p>
            <a:pPr>
              <a:buFont typeface="Wingdings" panose="05000000000000000000" pitchFamily="2" charset="2"/>
              <a:buChar char="q"/>
            </a:pPr>
            <a:r>
              <a:rPr lang="en-US" dirty="0" smtClean="0"/>
              <a:t>HIV antibody testing is done to all children with unknown HIV status with parental consent irrespective of reason for hospital visit</a:t>
            </a:r>
          </a:p>
          <a:p>
            <a:pPr>
              <a:buFont typeface="Wingdings" panose="05000000000000000000" pitchFamily="2" charset="2"/>
              <a:buChar char="q"/>
            </a:pPr>
            <a:r>
              <a:rPr lang="en-US" dirty="0" smtClean="0"/>
              <a:t>Testing to children of newly infected adults is done as soon as possible and linkage done if need be</a:t>
            </a:r>
            <a:endParaRPr lang="en-US" dirty="0"/>
          </a:p>
        </p:txBody>
      </p:sp>
    </p:spTree>
    <p:extLst>
      <p:ext uri="{BB962C8B-B14F-4D97-AF65-F5344CB8AC3E}">
        <p14:creationId xmlns:p14="http://schemas.microsoft.com/office/powerpoint/2010/main" val="31182571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HIV TESTING FOR ADOLESCENTS 10-19 YEARS</a:t>
            </a:r>
            <a:endParaRPr lang="en-US" b="1" dirty="0"/>
          </a:p>
        </p:txBody>
      </p:sp>
      <p:sp>
        <p:nvSpPr>
          <p:cNvPr id="3" name="Content Placeholder 2"/>
          <p:cNvSpPr>
            <a:spLocks noGrp="1"/>
          </p:cNvSpPr>
          <p:nvPr>
            <p:ph idx="1"/>
          </p:nvPr>
        </p:nvSpPr>
        <p:spPr/>
        <p:txBody>
          <a:bodyPr/>
          <a:lstStyle/>
          <a:p>
            <a:pPr>
              <a:buFont typeface="Wingdings" panose="05000000000000000000" pitchFamily="2" charset="2"/>
              <a:buChar char="q"/>
            </a:pPr>
            <a:r>
              <a:rPr lang="en-US" dirty="0" smtClean="0"/>
              <a:t>All adolescents visiting the health facility should be offered the service</a:t>
            </a:r>
          </a:p>
          <a:p>
            <a:pPr>
              <a:buFont typeface="Wingdings" panose="05000000000000000000" pitchFamily="2" charset="2"/>
              <a:buChar char="q"/>
            </a:pPr>
            <a:r>
              <a:rPr lang="en-US" dirty="0" smtClean="0"/>
              <a:t>Those aged 15 and above and emancipated minors can provide self consent. The younger ones would need parental consent</a:t>
            </a:r>
          </a:p>
          <a:p>
            <a:pPr>
              <a:buFont typeface="Wingdings" panose="05000000000000000000" pitchFamily="2" charset="2"/>
              <a:buChar char="q"/>
            </a:pPr>
            <a:r>
              <a:rPr lang="en-US" dirty="0" smtClean="0"/>
              <a:t>Those that test negative should be tested annually if no new risk is identified.</a:t>
            </a:r>
          </a:p>
          <a:p>
            <a:pPr>
              <a:buFont typeface="Wingdings" panose="05000000000000000000" pitchFamily="2" charset="2"/>
              <a:buChar char="q"/>
            </a:pPr>
            <a:r>
              <a:rPr lang="en-US" dirty="0" smtClean="0"/>
              <a:t>Testing should be extended to the partners of those who are sexually active and to the children of those who are parents</a:t>
            </a:r>
            <a:endParaRPr lang="en-US" dirty="0"/>
          </a:p>
        </p:txBody>
      </p:sp>
    </p:spTree>
    <p:extLst>
      <p:ext uri="{BB962C8B-B14F-4D97-AF65-F5344CB8AC3E}">
        <p14:creationId xmlns:p14="http://schemas.microsoft.com/office/powerpoint/2010/main" val="11972518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HIV TESTING FOR PREGNANT AND BREASTFEEDING CLIENTS</a:t>
            </a:r>
            <a:endParaRPr lang="en-US" b="1" dirty="0"/>
          </a:p>
        </p:txBody>
      </p:sp>
      <p:sp>
        <p:nvSpPr>
          <p:cNvPr id="3" name="Content Placeholder 2"/>
          <p:cNvSpPr>
            <a:spLocks noGrp="1"/>
          </p:cNvSpPr>
          <p:nvPr>
            <p:ph idx="1"/>
          </p:nvPr>
        </p:nvSpPr>
        <p:spPr/>
        <p:txBody>
          <a:bodyPr/>
          <a:lstStyle/>
          <a:p>
            <a:pPr>
              <a:buFont typeface="Wingdings" panose="05000000000000000000" pitchFamily="2" charset="2"/>
              <a:buChar char="q"/>
            </a:pPr>
            <a:r>
              <a:rPr lang="en-US" dirty="0" smtClean="0"/>
              <a:t>Counselling an testing should be offered to all women in their first visit unless those with known positive status.</a:t>
            </a:r>
          </a:p>
          <a:p>
            <a:pPr>
              <a:buFont typeface="Wingdings" panose="05000000000000000000" pitchFamily="2" charset="2"/>
              <a:buChar char="q"/>
            </a:pPr>
            <a:r>
              <a:rPr lang="en-US" dirty="0" smtClean="0"/>
              <a:t>Subsequent tests are done in every trimester of the pregnancy.</a:t>
            </a:r>
          </a:p>
          <a:p>
            <a:pPr>
              <a:buFont typeface="Wingdings" panose="05000000000000000000" pitchFamily="2" charset="2"/>
              <a:buChar char="q"/>
            </a:pPr>
            <a:r>
              <a:rPr lang="en-US" dirty="0" smtClean="0"/>
              <a:t>All breastfeeding women should be counseled and tested at 6 weeks and subsequently every 6 months as per the guidelines of the general population.</a:t>
            </a:r>
          </a:p>
          <a:p>
            <a:pPr>
              <a:buFont typeface="Wingdings" panose="05000000000000000000" pitchFamily="2" charset="2"/>
              <a:buChar char="q"/>
            </a:pPr>
            <a:r>
              <a:rPr lang="en-US" dirty="0" smtClean="0"/>
              <a:t>Spouses of the pregnant and breastfeeding women should also be offered testing services.</a:t>
            </a:r>
            <a:endParaRPr lang="en-US" dirty="0"/>
          </a:p>
        </p:txBody>
      </p:sp>
    </p:spTree>
    <p:extLst>
      <p:ext uri="{BB962C8B-B14F-4D97-AF65-F5344CB8AC3E}">
        <p14:creationId xmlns:p14="http://schemas.microsoft.com/office/powerpoint/2010/main" val="3739524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TESTING OF SEXUAL PARTNERS AND CHILDREN OF HIV POSITIVE CLIENTS</a:t>
            </a:r>
            <a:endParaRPr lang="en-US" b="1" dirty="0"/>
          </a:p>
        </p:txBody>
      </p:sp>
      <p:sp>
        <p:nvSpPr>
          <p:cNvPr id="3" name="Content Placeholder 2"/>
          <p:cNvSpPr>
            <a:spLocks noGrp="1"/>
          </p:cNvSpPr>
          <p:nvPr>
            <p:ph idx="1"/>
          </p:nvPr>
        </p:nvSpPr>
        <p:spPr/>
        <p:txBody>
          <a:bodyPr/>
          <a:lstStyle/>
          <a:p>
            <a:pPr>
              <a:buFont typeface="Wingdings" panose="05000000000000000000" pitchFamily="2" charset="2"/>
              <a:buChar char="q"/>
            </a:pPr>
            <a:r>
              <a:rPr lang="en-US" dirty="0" smtClean="0"/>
              <a:t>Previously referred to as partner notification service (PNS) before being expanded to include children</a:t>
            </a:r>
          </a:p>
          <a:p>
            <a:pPr>
              <a:buFont typeface="Wingdings" panose="05000000000000000000" pitchFamily="2" charset="2"/>
              <a:buChar char="q"/>
            </a:pPr>
            <a:r>
              <a:rPr lang="en-US" dirty="0" smtClean="0"/>
              <a:t>All PLHIV should receive disclosure counselling and be supported to disclose their HIV status.</a:t>
            </a:r>
          </a:p>
          <a:p>
            <a:pPr>
              <a:buFont typeface="Wingdings" panose="05000000000000000000" pitchFamily="2" charset="2"/>
              <a:buChar char="q"/>
            </a:pPr>
            <a:r>
              <a:rPr lang="en-US" dirty="0" smtClean="0"/>
              <a:t>Counselling and testing should be encouraged for all partners and children younger than 14 years.</a:t>
            </a:r>
          </a:p>
          <a:p>
            <a:pPr>
              <a:buFont typeface="Wingdings" panose="05000000000000000000" pitchFamily="2" charset="2"/>
              <a:buChar char="q"/>
            </a:pPr>
            <a:r>
              <a:rPr lang="en-US" dirty="0" smtClean="0"/>
              <a:t>Linkage to prevention, care and treatment should be offered as needed</a:t>
            </a:r>
            <a:endParaRPr lang="en-US" dirty="0"/>
          </a:p>
        </p:txBody>
      </p:sp>
    </p:spTree>
    <p:extLst>
      <p:ext uri="{BB962C8B-B14F-4D97-AF65-F5344CB8AC3E}">
        <p14:creationId xmlns:p14="http://schemas.microsoft.com/office/powerpoint/2010/main" val="19245221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TESTING FOR KEY POPULATIONS</a:t>
            </a:r>
            <a:endParaRPr lang="en-US" b="1" dirty="0"/>
          </a:p>
        </p:txBody>
      </p:sp>
      <p:sp>
        <p:nvSpPr>
          <p:cNvPr id="3" name="Content Placeholder 2"/>
          <p:cNvSpPr>
            <a:spLocks noGrp="1"/>
          </p:cNvSpPr>
          <p:nvPr>
            <p:ph idx="1"/>
          </p:nvPr>
        </p:nvSpPr>
        <p:spPr/>
        <p:txBody>
          <a:bodyPr/>
          <a:lstStyle/>
          <a:p>
            <a:pPr>
              <a:buFont typeface="Wingdings" panose="05000000000000000000" pitchFamily="2" charset="2"/>
              <a:buChar char="q"/>
            </a:pPr>
            <a:r>
              <a:rPr lang="en-US" dirty="0" smtClean="0"/>
              <a:t>Tested irrespective of the reason for visits through drop in centers.</a:t>
            </a:r>
          </a:p>
          <a:p>
            <a:pPr>
              <a:buFont typeface="Wingdings" panose="05000000000000000000" pitchFamily="2" charset="2"/>
              <a:buChar char="q"/>
            </a:pPr>
            <a:r>
              <a:rPr lang="en-US" dirty="0" smtClean="0"/>
              <a:t>Retesting is done every 3 months for those who test negative</a:t>
            </a:r>
          </a:p>
          <a:p>
            <a:pPr>
              <a:buFont typeface="Wingdings" panose="05000000000000000000" pitchFamily="2" charset="2"/>
              <a:buChar char="q"/>
            </a:pPr>
            <a:r>
              <a:rPr lang="en-US" dirty="0" smtClean="0"/>
              <a:t>For sexually active adults with partners, counselling and testing should be offered to the partners</a:t>
            </a:r>
          </a:p>
          <a:p>
            <a:pPr>
              <a:buFont typeface="Wingdings" panose="05000000000000000000" pitchFamily="2" charset="2"/>
              <a:buChar char="q"/>
            </a:pPr>
            <a:r>
              <a:rPr lang="en-US" dirty="0" smtClean="0"/>
              <a:t>Adults accessing HTS should be counseled and linked to VMMC</a:t>
            </a:r>
            <a:endParaRPr lang="en-US" dirty="0"/>
          </a:p>
        </p:txBody>
      </p:sp>
    </p:spTree>
    <p:extLst>
      <p:ext uri="{BB962C8B-B14F-4D97-AF65-F5344CB8AC3E}">
        <p14:creationId xmlns:p14="http://schemas.microsoft.com/office/powerpoint/2010/main" val="20463625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HTS IN DIFFERENT SETTINGS</a:t>
            </a:r>
            <a:endParaRPr lang="en-US" b="1" dirty="0"/>
          </a:p>
        </p:txBody>
      </p:sp>
      <p:sp>
        <p:nvSpPr>
          <p:cNvPr id="3" name="Content Placeholder 2"/>
          <p:cNvSpPr>
            <a:spLocks noGrp="1"/>
          </p:cNvSpPr>
          <p:nvPr>
            <p:ph idx="1"/>
          </p:nvPr>
        </p:nvSpPr>
        <p:spPr/>
        <p:txBody>
          <a:bodyPr/>
          <a:lstStyle/>
          <a:p>
            <a:pPr>
              <a:buFont typeface="Wingdings" panose="05000000000000000000" pitchFamily="2" charset="2"/>
              <a:buChar char="q"/>
            </a:pPr>
            <a:r>
              <a:rPr lang="en-US" dirty="0" smtClean="0"/>
              <a:t>Community based settings</a:t>
            </a:r>
          </a:p>
          <a:p>
            <a:pPr>
              <a:buFont typeface="Wingdings" panose="05000000000000000000" pitchFamily="2" charset="2"/>
              <a:buChar char="q"/>
            </a:pPr>
            <a:r>
              <a:rPr lang="en-US" dirty="0" smtClean="0"/>
              <a:t>HIV self testing discussed earlier</a:t>
            </a:r>
            <a:endParaRPr lang="en-US" dirty="0"/>
          </a:p>
        </p:txBody>
      </p:sp>
    </p:spTree>
    <p:extLst>
      <p:ext uri="{BB962C8B-B14F-4D97-AF65-F5344CB8AC3E}">
        <p14:creationId xmlns:p14="http://schemas.microsoft.com/office/powerpoint/2010/main" val="39736204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COMMUNITY BASED HIV TESTING</a:t>
            </a:r>
            <a:endParaRPr lang="en-US" b="1" dirty="0"/>
          </a:p>
        </p:txBody>
      </p:sp>
      <p:sp>
        <p:nvSpPr>
          <p:cNvPr id="3" name="Content Placeholder 2"/>
          <p:cNvSpPr>
            <a:spLocks noGrp="1"/>
          </p:cNvSpPr>
          <p:nvPr>
            <p:ph idx="1"/>
          </p:nvPr>
        </p:nvSpPr>
        <p:spPr/>
        <p:txBody>
          <a:bodyPr/>
          <a:lstStyle/>
          <a:p>
            <a:pPr>
              <a:buFont typeface="Wingdings" panose="05000000000000000000" pitchFamily="2" charset="2"/>
              <a:buChar char="q"/>
            </a:pPr>
            <a:r>
              <a:rPr lang="en-US" dirty="0"/>
              <a:t>Targeted testing in the community offers opportunities to identify and link to care people living with HIV of unknown HIV status</a:t>
            </a:r>
          </a:p>
          <a:p>
            <a:pPr>
              <a:buFont typeface="Wingdings" panose="05000000000000000000" pitchFamily="2" charset="2"/>
              <a:buChar char="q"/>
            </a:pPr>
            <a:r>
              <a:rPr lang="en-US" dirty="0"/>
              <a:t>The setting is appropriate for testing children and partners of index clients through family based testing, outreach to key populations, orphans and vulnerable children(OVC) and adolescents</a:t>
            </a:r>
          </a:p>
          <a:p>
            <a:endParaRPr lang="en-US" dirty="0"/>
          </a:p>
        </p:txBody>
      </p:sp>
    </p:spTree>
    <p:extLst>
      <p:ext uri="{BB962C8B-B14F-4D97-AF65-F5344CB8AC3E}">
        <p14:creationId xmlns:p14="http://schemas.microsoft.com/office/powerpoint/2010/main" val="29896900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HIV SELF TESTING</a:t>
            </a:r>
            <a:endParaRPr lang="en-US" b="1" dirty="0"/>
          </a:p>
        </p:txBody>
      </p:sp>
      <p:sp>
        <p:nvSpPr>
          <p:cNvPr id="3" name="Content Placeholder 2"/>
          <p:cNvSpPr>
            <a:spLocks noGrp="1"/>
          </p:cNvSpPr>
          <p:nvPr>
            <p:ph idx="1"/>
          </p:nvPr>
        </p:nvSpPr>
        <p:spPr/>
        <p:txBody>
          <a:bodyPr/>
          <a:lstStyle/>
          <a:p>
            <a:pPr>
              <a:buFont typeface="Wingdings" panose="05000000000000000000" pitchFamily="2" charset="2"/>
              <a:buChar char="q"/>
            </a:pPr>
            <a:r>
              <a:rPr lang="en-US" dirty="0"/>
              <a:t>Allows individuals to test themselves and later followed up incase of a positive result</a:t>
            </a:r>
          </a:p>
          <a:p>
            <a:pPr>
              <a:buFont typeface="Wingdings" panose="05000000000000000000" pitchFamily="2" charset="2"/>
              <a:buChar char="q"/>
            </a:pPr>
            <a:r>
              <a:rPr lang="en-US" dirty="0"/>
              <a:t>Uptake has increased due to availability of easy to use and easily accessible testing methods.</a:t>
            </a:r>
          </a:p>
          <a:p>
            <a:pPr>
              <a:buFont typeface="Wingdings" panose="05000000000000000000" pitchFamily="2" charset="2"/>
              <a:buChar char="q"/>
            </a:pPr>
            <a:r>
              <a:rPr lang="en-US" dirty="0"/>
              <a:t>Important </a:t>
            </a:r>
            <a:r>
              <a:rPr lang="en-US" dirty="0" smtClean="0"/>
              <a:t>for </a:t>
            </a:r>
            <a:r>
              <a:rPr lang="en-US" dirty="0"/>
              <a:t>reaching special populations such as key populations, stigmatized individuals</a:t>
            </a:r>
          </a:p>
        </p:txBody>
      </p:sp>
    </p:spTree>
    <p:extLst>
      <p:ext uri="{BB962C8B-B14F-4D97-AF65-F5344CB8AC3E}">
        <p14:creationId xmlns:p14="http://schemas.microsoft.com/office/powerpoint/2010/main" val="24573903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INDICATIONS/RATIONAL FOR HIV TESTING</a:t>
            </a:r>
            <a:endParaRPr lang="en-US" b="1" dirty="0"/>
          </a:p>
        </p:txBody>
      </p:sp>
      <p:sp>
        <p:nvSpPr>
          <p:cNvPr id="3" name="Content Placeholder 2"/>
          <p:cNvSpPr>
            <a:spLocks noGrp="1"/>
          </p:cNvSpPr>
          <p:nvPr>
            <p:ph idx="1"/>
          </p:nvPr>
        </p:nvSpPr>
        <p:spPr/>
        <p:txBody>
          <a:bodyPr/>
          <a:lstStyle/>
          <a:p>
            <a:r>
              <a:rPr lang="en-US" dirty="0" smtClean="0"/>
              <a:t>Every individual at risk</a:t>
            </a:r>
          </a:p>
          <a:p>
            <a:r>
              <a:rPr lang="en-US" dirty="0" smtClean="0"/>
              <a:t>Clinical conditions</a:t>
            </a:r>
          </a:p>
          <a:p>
            <a:pPr>
              <a:buFont typeface="Wingdings" panose="05000000000000000000" pitchFamily="2" charset="2"/>
              <a:buChar char="ü"/>
            </a:pPr>
            <a:r>
              <a:rPr lang="en-US" dirty="0" smtClean="0"/>
              <a:t>Persistent diarrhea</a:t>
            </a:r>
          </a:p>
          <a:p>
            <a:pPr>
              <a:buFont typeface="Wingdings" panose="05000000000000000000" pitchFamily="2" charset="2"/>
              <a:buChar char="ü"/>
            </a:pPr>
            <a:r>
              <a:rPr lang="en-US" dirty="0" smtClean="0"/>
              <a:t>Severe respiratory infections-TB</a:t>
            </a:r>
          </a:p>
          <a:p>
            <a:pPr>
              <a:buFont typeface="Wingdings" panose="05000000000000000000" pitchFamily="2" charset="2"/>
              <a:buChar char="ü"/>
            </a:pPr>
            <a:r>
              <a:rPr lang="en-US" dirty="0" smtClean="0"/>
              <a:t>Oral thrush/candidiasis</a:t>
            </a:r>
          </a:p>
          <a:p>
            <a:pPr>
              <a:buFont typeface="Wingdings" panose="05000000000000000000" pitchFamily="2" charset="2"/>
              <a:buChar char="ü"/>
            </a:pPr>
            <a:r>
              <a:rPr lang="en-US" dirty="0" smtClean="0"/>
              <a:t>Herpes zoster</a:t>
            </a:r>
          </a:p>
          <a:p>
            <a:pPr>
              <a:buFont typeface="Wingdings" panose="05000000000000000000" pitchFamily="2" charset="2"/>
              <a:buChar char="ü"/>
            </a:pPr>
            <a:r>
              <a:rPr lang="en-US" dirty="0" smtClean="0"/>
              <a:t>STIS</a:t>
            </a:r>
          </a:p>
          <a:p>
            <a:pPr>
              <a:buFont typeface="Wingdings" panose="05000000000000000000" pitchFamily="2" charset="2"/>
              <a:buChar char="ü"/>
            </a:pPr>
            <a:r>
              <a:rPr lang="en-US" dirty="0" smtClean="0"/>
              <a:t>Loss of more than 10% of body weight(unexplained)</a:t>
            </a:r>
            <a:endParaRPr lang="en-US" dirty="0"/>
          </a:p>
        </p:txBody>
      </p:sp>
    </p:spTree>
    <p:extLst>
      <p:ext uri="{BB962C8B-B14F-4D97-AF65-F5344CB8AC3E}">
        <p14:creationId xmlns:p14="http://schemas.microsoft.com/office/powerpoint/2010/main" val="19103528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BENEFITS OF HIV TESTING</a:t>
            </a:r>
            <a:endParaRPr lang="en-US" b="1" dirty="0"/>
          </a:p>
        </p:txBody>
      </p:sp>
      <p:sp>
        <p:nvSpPr>
          <p:cNvPr id="3" name="Content Placeholder 2"/>
          <p:cNvSpPr>
            <a:spLocks noGrp="1"/>
          </p:cNvSpPr>
          <p:nvPr>
            <p:ph idx="1"/>
          </p:nvPr>
        </p:nvSpPr>
        <p:spPr/>
        <p:txBody>
          <a:bodyPr/>
          <a:lstStyle/>
          <a:p>
            <a:pPr>
              <a:buFont typeface="Wingdings" panose="05000000000000000000" pitchFamily="2" charset="2"/>
              <a:buChar char="q"/>
            </a:pPr>
            <a:r>
              <a:rPr lang="en-US" dirty="0" smtClean="0"/>
              <a:t>Early access to treatment</a:t>
            </a:r>
          </a:p>
          <a:p>
            <a:pPr>
              <a:buFont typeface="Wingdings" panose="05000000000000000000" pitchFamily="2" charset="2"/>
              <a:buChar char="q"/>
            </a:pPr>
            <a:r>
              <a:rPr lang="en-US" dirty="0" smtClean="0"/>
              <a:t>Ability to make family planning choices</a:t>
            </a:r>
          </a:p>
          <a:p>
            <a:pPr>
              <a:buFont typeface="Wingdings" panose="05000000000000000000" pitchFamily="2" charset="2"/>
              <a:buChar char="q"/>
            </a:pPr>
            <a:r>
              <a:rPr lang="en-US" dirty="0" smtClean="0"/>
              <a:t>Possibility to make lifestyle changes</a:t>
            </a:r>
          </a:p>
          <a:p>
            <a:pPr>
              <a:buFont typeface="Wingdings" panose="05000000000000000000" pitchFamily="2" charset="2"/>
              <a:buChar char="q"/>
            </a:pPr>
            <a:r>
              <a:rPr lang="en-US" dirty="0" smtClean="0"/>
              <a:t>Ability to change behavior to avoid transmission to others</a:t>
            </a:r>
          </a:p>
          <a:p>
            <a:pPr>
              <a:buFont typeface="Wingdings" panose="05000000000000000000" pitchFamily="2" charset="2"/>
              <a:buChar char="q"/>
            </a:pPr>
            <a:r>
              <a:rPr lang="en-US" dirty="0" smtClean="0"/>
              <a:t>Prevention of mother to child transmission</a:t>
            </a:r>
          </a:p>
          <a:p>
            <a:pPr>
              <a:buFont typeface="Wingdings" panose="05000000000000000000" pitchFamily="2" charset="2"/>
              <a:buChar char="q"/>
            </a:pPr>
            <a:r>
              <a:rPr lang="en-US" dirty="0" smtClean="0"/>
              <a:t>Planning for possible health problems</a:t>
            </a:r>
            <a:endParaRPr lang="en-US" dirty="0"/>
          </a:p>
        </p:txBody>
      </p:sp>
    </p:spTree>
    <p:extLst>
      <p:ext uri="{BB962C8B-B14F-4D97-AF65-F5344CB8AC3E}">
        <p14:creationId xmlns:p14="http://schemas.microsoft.com/office/powerpoint/2010/main" val="12353267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MOST AT RISK POPULATION/KEY POPULATION</a:t>
            </a:r>
            <a:endParaRPr lang="en-US" dirty="0"/>
          </a:p>
        </p:txBody>
      </p:sp>
      <p:sp>
        <p:nvSpPr>
          <p:cNvPr id="3" name="Text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4823089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MARPS</a:t>
            </a:r>
            <a:endParaRPr lang="en-US" dirty="0"/>
          </a:p>
        </p:txBody>
      </p:sp>
      <p:sp>
        <p:nvSpPr>
          <p:cNvPr id="3" name="Content Placeholder 2"/>
          <p:cNvSpPr>
            <a:spLocks noGrp="1"/>
          </p:cNvSpPr>
          <p:nvPr>
            <p:ph idx="1"/>
          </p:nvPr>
        </p:nvSpPr>
        <p:spPr/>
        <p:txBody>
          <a:bodyPr/>
          <a:lstStyle/>
          <a:p>
            <a:pPr marL="0" indent="0">
              <a:buNone/>
            </a:pPr>
            <a:r>
              <a:rPr lang="en-US" dirty="0"/>
              <a:t>Most-at-risk-populations (MARPs) are defined as those populations at highest risk for sexual acquisition/transmission of HIV due to either the number of partners that they have, or the higher risk sex that they engage in.</a:t>
            </a:r>
          </a:p>
          <a:p>
            <a:pPr marL="0" indent="0">
              <a:buNone/>
            </a:pPr>
            <a:endParaRPr lang="en-US" dirty="0"/>
          </a:p>
        </p:txBody>
      </p:sp>
    </p:spTree>
    <p:extLst>
      <p:ext uri="{BB962C8B-B14F-4D97-AF65-F5344CB8AC3E}">
        <p14:creationId xmlns:p14="http://schemas.microsoft.com/office/powerpoint/2010/main" val="20141341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MARPS</a:t>
            </a:r>
            <a:endParaRPr lang="en-US" dirty="0"/>
          </a:p>
        </p:txBody>
      </p:sp>
      <p:sp>
        <p:nvSpPr>
          <p:cNvPr id="3" name="Content Placeholder 2"/>
          <p:cNvSpPr>
            <a:spLocks noGrp="1"/>
          </p:cNvSpPr>
          <p:nvPr>
            <p:ph idx="1"/>
          </p:nvPr>
        </p:nvSpPr>
        <p:spPr/>
        <p:txBody>
          <a:bodyPr>
            <a:normAutofit fontScale="92500" lnSpcReduction="10000"/>
          </a:bodyPr>
          <a:lstStyle/>
          <a:p>
            <a:r>
              <a:rPr lang="en-US" b="1" dirty="0"/>
              <a:t>1. Female Sex workers</a:t>
            </a:r>
          </a:p>
          <a:p>
            <a:r>
              <a:rPr lang="en-US" dirty="0"/>
              <a:t>Female sex workers are women who exchange anal, vaginal and/or oral sex for money or other items of value, primarily with men </a:t>
            </a:r>
          </a:p>
          <a:p>
            <a:r>
              <a:rPr lang="en-US" dirty="0"/>
              <a:t>Sex workers have the highest reported HIV prevalence of any group in Kenya. </a:t>
            </a:r>
          </a:p>
          <a:p>
            <a:r>
              <a:rPr lang="en-US" dirty="0"/>
              <a:t>FSW engage in sex with multiple partners, alcohol and drug </a:t>
            </a:r>
            <a:r>
              <a:rPr lang="en-US" dirty="0" err="1"/>
              <a:t>mis</a:t>
            </a:r>
            <a:r>
              <a:rPr lang="en-US" dirty="0"/>
              <a:t>-use or abuse, and relatively low condom use with regular and non-regular partners.</a:t>
            </a:r>
          </a:p>
          <a:p>
            <a:r>
              <a:rPr lang="en-US" dirty="0"/>
              <a:t> In recent Kenyan studies female sex workers are reportedly better at protecting themselves from HIV transmission compared to other groups who are vulnerable to HIV such as men who have sex with men. </a:t>
            </a:r>
          </a:p>
          <a:p>
            <a:endParaRPr lang="en-US" dirty="0"/>
          </a:p>
        </p:txBody>
      </p:sp>
    </p:spTree>
    <p:extLst>
      <p:ext uri="{BB962C8B-B14F-4D97-AF65-F5344CB8AC3E}">
        <p14:creationId xmlns:p14="http://schemas.microsoft.com/office/powerpoint/2010/main" val="25084275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MARPS</a:t>
            </a:r>
            <a:endParaRPr lang="en-US" dirty="0"/>
          </a:p>
        </p:txBody>
      </p:sp>
      <p:sp>
        <p:nvSpPr>
          <p:cNvPr id="3" name="Content Placeholder 2"/>
          <p:cNvSpPr>
            <a:spLocks noGrp="1"/>
          </p:cNvSpPr>
          <p:nvPr>
            <p:ph idx="1"/>
          </p:nvPr>
        </p:nvSpPr>
        <p:spPr/>
        <p:txBody>
          <a:bodyPr>
            <a:normAutofit fontScale="85000" lnSpcReduction="20000"/>
          </a:bodyPr>
          <a:lstStyle/>
          <a:p>
            <a:r>
              <a:rPr lang="en-US" b="1" dirty="0"/>
              <a:t>2. Men who have sex with men (MSM)</a:t>
            </a:r>
          </a:p>
          <a:p>
            <a:r>
              <a:rPr lang="en-US" dirty="0"/>
              <a:t>HIV prevalence among men who have sex with men (sometimes referred to as MSM) in Kenya is almost three times that among the general population. </a:t>
            </a:r>
          </a:p>
          <a:p>
            <a:r>
              <a:rPr lang="en-US" dirty="0"/>
              <a:t>The high prevalence is due to the risk of ulceration/ injury due to lack of lubrication in the anus.</a:t>
            </a:r>
          </a:p>
          <a:p>
            <a:r>
              <a:rPr lang="en-US" dirty="0"/>
              <a:t>Homosexuality is illegal in Kenya and can carry a prison sentence of up to 14 years.</a:t>
            </a:r>
          </a:p>
          <a:p>
            <a:r>
              <a:rPr lang="en-US" dirty="0"/>
              <a:t>This, coupled with entrenched social attitudes, leads to high levels of stigma and discrimination towards men who have sex with men as well as people who are lesbian, gay, bisexual and transgender (LGBT), deterring many people from seeking the HIV services they need. </a:t>
            </a:r>
          </a:p>
          <a:p>
            <a:r>
              <a:rPr lang="en-US" dirty="0"/>
              <a:t>However, Condom use among men who have sex with men has been rising. In 2016, 80% of men who have sex with men reported using a condom the last time they had anal sex, up from 55% in 2011.</a:t>
            </a:r>
          </a:p>
          <a:p>
            <a:endParaRPr lang="en-US" dirty="0"/>
          </a:p>
          <a:p>
            <a:endParaRPr lang="en-US" dirty="0"/>
          </a:p>
        </p:txBody>
      </p:sp>
    </p:spTree>
    <p:extLst>
      <p:ext uri="{BB962C8B-B14F-4D97-AF65-F5344CB8AC3E}">
        <p14:creationId xmlns:p14="http://schemas.microsoft.com/office/powerpoint/2010/main" val="38024001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MARPS</a:t>
            </a:r>
            <a:endParaRPr lang="en-US" dirty="0"/>
          </a:p>
        </p:txBody>
      </p:sp>
      <p:sp>
        <p:nvSpPr>
          <p:cNvPr id="3" name="Content Placeholder 2"/>
          <p:cNvSpPr>
            <a:spLocks noGrp="1"/>
          </p:cNvSpPr>
          <p:nvPr>
            <p:ph idx="1"/>
          </p:nvPr>
        </p:nvSpPr>
        <p:spPr/>
        <p:txBody>
          <a:bodyPr>
            <a:normAutofit fontScale="92500" lnSpcReduction="20000"/>
          </a:bodyPr>
          <a:lstStyle/>
          <a:p>
            <a:r>
              <a:rPr lang="en-US" b="1" dirty="0"/>
              <a:t>3. People who inject drugs (PWID)</a:t>
            </a:r>
          </a:p>
          <a:p>
            <a:r>
              <a:rPr lang="en-US" dirty="0"/>
              <a:t>In 2011, an estimated 18.3% of people who inject drugs (sometimes referred to as PWID) in Kenya were living with HIV.</a:t>
            </a:r>
          </a:p>
          <a:p>
            <a:r>
              <a:rPr lang="en-US" dirty="0"/>
              <a:t>The majority of people who inject drugs are concentrated in specific geographical areas such as Nairobi and Mombasa.</a:t>
            </a:r>
          </a:p>
          <a:p>
            <a:r>
              <a:rPr lang="en-US" dirty="0"/>
              <a:t>People who inject drugs (PWID) are at increased risk of HIV infection. In Kenya, the HIV prevalence among PWID is up to 4 times that of the general population. </a:t>
            </a:r>
          </a:p>
          <a:p>
            <a:r>
              <a:rPr lang="en-US" dirty="0"/>
              <a:t>The high risk is due to sharing of needles.</a:t>
            </a:r>
          </a:p>
          <a:p>
            <a:r>
              <a:rPr lang="en-US" dirty="0"/>
              <a:t>PWID also suffer a higher burden of viral hepatitis (HBV and HCV), TB and sexually transmitted infections irrespective of HIV status. Despite this, PWID have limited access to HIV treatment and prevention services.</a:t>
            </a:r>
          </a:p>
          <a:p>
            <a:endParaRPr lang="en-US" dirty="0"/>
          </a:p>
        </p:txBody>
      </p:sp>
    </p:spTree>
    <p:extLst>
      <p:ext uri="{BB962C8B-B14F-4D97-AF65-F5344CB8AC3E}">
        <p14:creationId xmlns:p14="http://schemas.microsoft.com/office/powerpoint/2010/main" val="8704592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 AT RISK POPULATIONS</a:t>
            </a:r>
            <a:endParaRPr lang="en-US" dirty="0"/>
          </a:p>
        </p:txBody>
      </p:sp>
      <p:sp>
        <p:nvSpPr>
          <p:cNvPr id="3" name="Content Placeholder 2"/>
          <p:cNvSpPr>
            <a:spLocks noGrp="1"/>
          </p:cNvSpPr>
          <p:nvPr>
            <p:ph idx="1"/>
          </p:nvPr>
        </p:nvSpPr>
        <p:spPr/>
        <p:txBody>
          <a:bodyPr>
            <a:normAutofit fontScale="92500" lnSpcReduction="20000"/>
          </a:bodyPr>
          <a:lstStyle/>
          <a:p>
            <a:r>
              <a:rPr lang="en-US" sz="3300" b="1" dirty="0"/>
              <a:t>4. Young people</a:t>
            </a:r>
          </a:p>
          <a:p>
            <a:r>
              <a:rPr lang="en-US" dirty="0"/>
              <a:t>More than half (51%) of all new HIV infections in Kenya in 2015 occurred among adolescents and young people (aged 15-24 years), a rapid rise from 29% in 2013.</a:t>
            </a:r>
          </a:p>
          <a:p>
            <a:r>
              <a:rPr lang="en-US" dirty="0"/>
              <a:t>Young women are almost twice as likely to acquire HIV as their male counterparts, and accounted for 33% of the total number of new infections in 2015. </a:t>
            </a:r>
          </a:p>
          <a:p>
            <a:r>
              <a:rPr lang="en-US" dirty="0"/>
              <a:t>A number of factors contribute to the increasing rate of HIV infection among young people including; </a:t>
            </a:r>
          </a:p>
          <a:p>
            <a:pPr lvl="1"/>
            <a:r>
              <a:rPr lang="en-US" dirty="0"/>
              <a:t> incorrect perception of HIV risk</a:t>
            </a:r>
          </a:p>
          <a:p>
            <a:pPr lvl="1"/>
            <a:r>
              <a:rPr lang="en-US" dirty="0"/>
              <a:t> having unprotected sexual intercourse under influence of alcohol or drugs.</a:t>
            </a:r>
          </a:p>
          <a:p>
            <a:pPr lvl="1"/>
            <a:r>
              <a:rPr lang="en-US" dirty="0"/>
              <a:t>Forced sex and sexual violence also increase young people’s vulnerability to HIV. </a:t>
            </a:r>
          </a:p>
          <a:p>
            <a:endParaRPr lang="en-US" dirty="0"/>
          </a:p>
        </p:txBody>
      </p:sp>
    </p:spTree>
    <p:extLst>
      <p:ext uri="{BB962C8B-B14F-4D97-AF65-F5344CB8AC3E}">
        <p14:creationId xmlns:p14="http://schemas.microsoft.com/office/powerpoint/2010/main" val="28218825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 AT RISK POPULATIONS</a:t>
            </a:r>
            <a:endParaRPr lang="en-US" dirty="0"/>
          </a:p>
        </p:txBody>
      </p:sp>
      <p:sp>
        <p:nvSpPr>
          <p:cNvPr id="3" name="Content Placeholder 2"/>
          <p:cNvSpPr>
            <a:spLocks noGrp="1"/>
          </p:cNvSpPr>
          <p:nvPr>
            <p:ph idx="1"/>
          </p:nvPr>
        </p:nvSpPr>
        <p:spPr/>
        <p:txBody>
          <a:bodyPr/>
          <a:lstStyle/>
          <a:p>
            <a:pPr marL="0" indent="0">
              <a:buNone/>
            </a:pPr>
            <a:r>
              <a:rPr lang="en-US" b="1" dirty="0" smtClean="0"/>
              <a:t>YOUG PEOPLE CONT</a:t>
            </a:r>
          </a:p>
          <a:p>
            <a:r>
              <a:rPr lang="en-US" dirty="0"/>
              <a:t>Young Kenyan women who are three times more likely to be exposed to sexual violence than young Kenyan men.</a:t>
            </a:r>
          </a:p>
          <a:p>
            <a:r>
              <a:rPr lang="en-US" dirty="0"/>
              <a:t> It is estimated that 33% of girls in Kenya have been raped by the time they reach the age of 18, with 22% of girls aged 15-19 describing their first experience of sexual intercourse as forced.</a:t>
            </a:r>
          </a:p>
          <a:p>
            <a:pPr marL="0" indent="0">
              <a:buNone/>
            </a:pPr>
            <a:endParaRPr lang="en-US" b="1" dirty="0"/>
          </a:p>
        </p:txBody>
      </p:sp>
    </p:spTree>
    <p:extLst>
      <p:ext uri="{BB962C8B-B14F-4D97-AF65-F5344CB8AC3E}">
        <p14:creationId xmlns:p14="http://schemas.microsoft.com/office/powerpoint/2010/main" val="39727000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 AT RISK POPULATIONS</a:t>
            </a:r>
            <a:endParaRPr lang="en-US" dirty="0"/>
          </a:p>
        </p:txBody>
      </p:sp>
      <p:sp>
        <p:nvSpPr>
          <p:cNvPr id="3" name="Content Placeholder 2"/>
          <p:cNvSpPr>
            <a:spLocks noGrp="1"/>
          </p:cNvSpPr>
          <p:nvPr>
            <p:ph idx="1"/>
          </p:nvPr>
        </p:nvSpPr>
        <p:spPr/>
        <p:txBody>
          <a:bodyPr/>
          <a:lstStyle/>
          <a:p>
            <a:pPr marL="0" indent="0">
              <a:buNone/>
            </a:pPr>
            <a:r>
              <a:rPr lang="en-US" b="1" dirty="0" smtClean="0"/>
              <a:t> </a:t>
            </a:r>
            <a:r>
              <a:rPr lang="en-US" b="1" dirty="0"/>
              <a:t>Women </a:t>
            </a:r>
          </a:p>
          <a:p>
            <a:r>
              <a:rPr lang="en-US" dirty="0"/>
              <a:t>In 2016, women accounted for 910,000 of the 1.6 million people living with HIV in Kenya.</a:t>
            </a:r>
          </a:p>
          <a:p>
            <a:r>
              <a:rPr lang="en-US" dirty="0"/>
              <a:t>women in Kenya face discrimination in terms of access to education, employment and healthcare. </a:t>
            </a:r>
          </a:p>
          <a:p>
            <a:r>
              <a:rPr lang="en-US" dirty="0"/>
              <a:t>As a result, men often dominate sexual relationships, with women not always able to practice safer sex even when they know the risks. For example, in 2014, 35% of adult women (aged 15-49) who were or had been married had experienced spousal violence and 14% had experienced sexual violence.</a:t>
            </a:r>
          </a:p>
          <a:p>
            <a:endParaRPr lang="en-US" dirty="0"/>
          </a:p>
        </p:txBody>
      </p:sp>
    </p:spTree>
    <p:extLst>
      <p:ext uri="{BB962C8B-B14F-4D97-AF65-F5344CB8AC3E}">
        <p14:creationId xmlns:p14="http://schemas.microsoft.com/office/powerpoint/2010/main" val="22522031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 AT RISK POPULATIONS</a:t>
            </a:r>
            <a:endParaRPr lang="en-US" dirty="0"/>
          </a:p>
        </p:txBody>
      </p:sp>
      <p:sp>
        <p:nvSpPr>
          <p:cNvPr id="3" name="Content Placeholder 2"/>
          <p:cNvSpPr>
            <a:spLocks noGrp="1"/>
          </p:cNvSpPr>
          <p:nvPr>
            <p:ph idx="1"/>
          </p:nvPr>
        </p:nvSpPr>
        <p:spPr/>
        <p:txBody>
          <a:bodyPr/>
          <a:lstStyle/>
          <a:p>
            <a:pPr marL="0" indent="0">
              <a:buNone/>
            </a:pPr>
            <a:r>
              <a:rPr lang="en-US" b="1" dirty="0" smtClean="0"/>
              <a:t>Bridging </a:t>
            </a:r>
            <a:r>
              <a:rPr lang="en-US" b="1" dirty="0"/>
              <a:t>populations</a:t>
            </a:r>
            <a:endParaRPr lang="en-US" dirty="0"/>
          </a:p>
          <a:p>
            <a:r>
              <a:rPr lang="en-US" dirty="0"/>
              <a:t>Defined as members of the general population that interact sexually with key population members.</a:t>
            </a:r>
          </a:p>
          <a:p>
            <a:r>
              <a:rPr lang="en-US" dirty="0"/>
              <a:t>They may further facilitate the spread of HIV infection. </a:t>
            </a:r>
          </a:p>
          <a:p>
            <a:r>
              <a:rPr lang="en-US" dirty="0"/>
              <a:t>In particular, receptive anal intercourse has been cited as an important risk factor for HIV infection and described primarily in the context of MSM behavior in Kenya.</a:t>
            </a:r>
          </a:p>
          <a:p>
            <a:r>
              <a:rPr lang="en-US" dirty="0"/>
              <a:t>Others include heterosexual anal intercourse among women</a:t>
            </a:r>
          </a:p>
          <a:p>
            <a:endParaRPr lang="en-US" dirty="0"/>
          </a:p>
        </p:txBody>
      </p:sp>
    </p:spTree>
    <p:extLst>
      <p:ext uri="{BB962C8B-B14F-4D97-AF65-F5344CB8AC3E}">
        <p14:creationId xmlns:p14="http://schemas.microsoft.com/office/powerpoint/2010/main" val="6793152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NOTE</a:t>
            </a:r>
            <a:endParaRPr lang="en-US" dirty="0"/>
          </a:p>
        </p:txBody>
      </p:sp>
      <p:sp>
        <p:nvSpPr>
          <p:cNvPr id="3" name="Content Placeholder 2"/>
          <p:cNvSpPr>
            <a:spLocks noGrp="1"/>
          </p:cNvSpPr>
          <p:nvPr>
            <p:ph idx="1"/>
          </p:nvPr>
        </p:nvSpPr>
        <p:spPr/>
        <p:txBody>
          <a:bodyPr/>
          <a:lstStyle/>
          <a:p>
            <a:r>
              <a:rPr lang="en-US" dirty="0"/>
              <a:t>Many of the behaviors that place key populations at increased risk of acquiring and transmitting HIV are illegal in Kenya. </a:t>
            </a:r>
          </a:p>
          <a:p>
            <a:r>
              <a:rPr lang="en-US" dirty="0"/>
              <a:t>The prevailing stigma and criminalization make these groups hidden and difficult to reach in routine HIV surveillance, impeding their access to HIV prevention, care, and treatment services.</a:t>
            </a:r>
          </a:p>
          <a:p>
            <a:pPr marL="0" indent="0">
              <a:buNone/>
            </a:pPr>
            <a:r>
              <a:rPr lang="en-US" b="1" dirty="0">
                <a:solidFill>
                  <a:srgbClr val="FF0000"/>
                </a:solidFill>
              </a:rPr>
              <a:t>READ ON INTERVENTIONS IN PLACE TO REDUCE THE RISK OF HIV IN EACH OF THE MARPS</a:t>
            </a:r>
          </a:p>
          <a:p>
            <a:pPr marL="0" indent="0">
              <a:buNone/>
            </a:pPr>
            <a:endParaRPr lang="en-US" dirty="0"/>
          </a:p>
        </p:txBody>
      </p:sp>
    </p:spTree>
    <p:extLst>
      <p:ext uri="{BB962C8B-B14F-4D97-AF65-F5344CB8AC3E}">
        <p14:creationId xmlns:p14="http://schemas.microsoft.com/office/powerpoint/2010/main" val="12937414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87606" y="1037229"/>
            <a:ext cx="8502555" cy="5581935"/>
          </a:xfrm>
          <a:prstGeom prst="rect">
            <a:avLst/>
          </a:prstGeom>
        </p:spPr>
      </p:pic>
    </p:spTree>
    <p:extLst>
      <p:ext uri="{BB962C8B-B14F-4D97-AF65-F5344CB8AC3E}">
        <p14:creationId xmlns:p14="http://schemas.microsoft.com/office/powerpoint/2010/main" val="9849913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569</TotalTime>
  <Words>1977</Words>
  <Application>Microsoft Office PowerPoint</Application>
  <PresentationFormat>Widescreen</PresentationFormat>
  <Paragraphs>164</Paragraphs>
  <Slides>38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38</vt:i4>
      </vt:variant>
    </vt:vector>
  </HeadingPairs>
  <TitlesOfParts>
    <vt:vector size="43" baseType="lpstr">
      <vt:lpstr>Arial</vt:lpstr>
      <vt:lpstr>Calibri</vt:lpstr>
      <vt:lpstr>Calibri Light</vt:lpstr>
      <vt:lpstr>Wingdings</vt:lpstr>
      <vt:lpstr>Office Theme</vt:lpstr>
      <vt:lpstr>HIV TESTING</vt:lpstr>
      <vt:lpstr>PowerPoint Presentation</vt:lpstr>
      <vt:lpstr>LEARNING OUTCOMES</vt:lpstr>
      <vt:lpstr>DEFINITION OF TERMS</vt:lpstr>
      <vt:lpstr>DEFINITION OF TERMS</vt:lpstr>
      <vt:lpstr>DEFINITION OF TERMS</vt:lpstr>
      <vt:lpstr>HIV TESTING SERVICES</vt:lpstr>
      <vt:lpstr>PACKAGE FOR HIV TESTING SERVICES</vt:lpstr>
      <vt:lpstr>APPROACHES THAT IMPROVE LINKAGE TO CARE AND TREATMENT</vt:lpstr>
      <vt:lpstr>PRINCIPLES OF HTC</vt:lpstr>
      <vt:lpstr>PRINCIPLES OF HTC</vt:lpstr>
      <vt:lpstr>TYPES OF HIV TESTS</vt:lpstr>
      <vt:lpstr>RAPID TEST KITS</vt:lpstr>
      <vt:lpstr>HIV TEST RESULT INTERPRETATION</vt:lpstr>
      <vt:lpstr>SETTINGS FOR HIV TESTING</vt:lpstr>
      <vt:lpstr>FACILITY BASED TESTING</vt:lpstr>
      <vt:lpstr>FACILITY BASED TESTING SETTING</vt:lpstr>
      <vt:lpstr>HTS IN DIFFERENT SETTINGS</vt:lpstr>
      <vt:lpstr>HIV TESTING FOR ADOLESCENTS 10-19 YEARS</vt:lpstr>
      <vt:lpstr>HIV TESTING FOR PREGNANT AND BREASTFEEDING CLIENTS</vt:lpstr>
      <vt:lpstr>TESTING OF SEXUAL PARTNERS AND CHILDREN OF HIV POSITIVE CLIENTS</vt:lpstr>
      <vt:lpstr>TESTING FOR KEY POPULATIONS</vt:lpstr>
      <vt:lpstr>HTS IN DIFFERENT SETTINGS</vt:lpstr>
      <vt:lpstr>COMMUNITY BASED HIV TESTING</vt:lpstr>
      <vt:lpstr>HIV SELF TESTING</vt:lpstr>
      <vt:lpstr>INDICATIONS/RATIONAL FOR HIV TESTING</vt:lpstr>
      <vt:lpstr>BENEFITS OF HIV TESTING</vt:lpstr>
      <vt:lpstr>MOST AT RISK POPULATION/KEY POPULATION</vt:lpstr>
      <vt:lpstr>MARPS</vt:lpstr>
      <vt:lpstr>MARPS</vt:lpstr>
      <vt:lpstr>MARPS</vt:lpstr>
      <vt:lpstr>MARPS</vt:lpstr>
      <vt:lpstr>OTHER AT RISK POPULATIONS</vt:lpstr>
      <vt:lpstr>OTHER AT RISK POPULATIONS</vt:lpstr>
      <vt:lpstr>OTHER AT RISK POPULATIONS</vt:lpstr>
      <vt:lpstr>OTHER AT RISK POPULATIONS</vt:lpstr>
      <vt:lpstr>NOTE</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HIV TESTING</dc:title>
  <dc:creator>User</dc:creator>
  <cp:lastModifiedBy>ADMIN</cp:lastModifiedBy>
  <cp:revision>43</cp:revision>
  <dcterms:created xsi:type="dcterms:W3CDTF">2020-11-23T05:25:50Z</dcterms:created>
  <dcterms:modified xsi:type="dcterms:W3CDTF">2023-12-04T07:12:54Z</dcterms:modified>
</cp:coreProperties>
</file>